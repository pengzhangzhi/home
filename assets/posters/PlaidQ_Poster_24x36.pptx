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42900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801368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Distilled Continuous Diffusion Language Models Can Write Code in Few Steps — or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01952"/>
            <a:ext cx="18013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Fred Zhangzhi Peng</a:t>
            </a:r>
            <a:r>
              <a:rPr sz="2700" b="0" i="0">
                <a:solidFill>
                  <a:srgbClr val="FFFFFF"/>
                </a:solidFill>
                <a:latin typeface="Calibri"/>
              </a:rPr>
              <a:t>¹   </a:t>
            </a:r>
            <a:r>
              <a:rPr sz="2700" b="1" i="0">
                <a:solidFill>
                  <a:srgbClr val="FFFFFF"/>
                </a:solidFill>
                <a:latin typeface="Calibri"/>
              </a:rPr>
              <a:t>Kaiwen Zheng</a:t>
            </a:r>
            <a:r>
              <a:rPr sz="2700" b="0" i="0">
                <a:solidFill>
                  <a:srgbClr val="FFFFFF"/>
                </a:solidFill>
                <a:latin typeface="Calibri"/>
              </a:rPr>
              <a:t>²   </a:t>
            </a:r>
            <a:r>
              <a:rPr sz="2700" b="1" i="0">
                <a:solidFill>
                  <a:srgbClr val="FFFFFF"/>
                </a:solidFill>
                <a:latin typeface="Calibri"/>
              </a:rPr>
              <a:t>Anru R. Zhang</a:t>
            </a:r>
            <a:r>
              <a:rPr sz="2700" b="0" i="0">
                <a:solidFill>
                  <a:srgbClr val="FFFFFF"/>
                </a:solidFill>
                <a:latin typeface="Calibri"/>
              </a:rPr>
              <a:t>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87168"/>
            <a:ext cx="1801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0" i="0">
                <a:solidFill>
                  <a:srgbClr val="CADCFC"/>
                </a:solidFill>
                <a:latin typeface="Calibri"/>
              </a:rPr>
              <a:t>¹Duke University     ²Tsinghua University</a:t>
            </a:r>
            <a:r>
              <a:rPr sz="2100" b="0" i="1">
                <a:solidFill>
                  <a:srgbClr val="CADCFC"/>
                </a:solidFill>
                <a:latin typeface="Calibri"/>
              </a:rPr>
              <a:t>          NeurIPS 2026 Workshop</a:t>
            </a:r>
          </a:p>
        </p:txBody>
      </p:sp>
      <p:pic>
        <p:nvPicPr>
          <p:cNvPr id="6" name="Picture 5" descr="qr_plaidq_p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800" y="384048"/>
            <a:ext cx="2240280" cy="2240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356580" y="26517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github.com/pengzhangzhi/plaidq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20848320" cy="1234440"/>
          </a:xfrm>
          <a:prstGeom prst="roundRect">
            <a:avLst>
              <a:gd name="adj" fmla="val 13333"/>
            </a:avLst>
          </a:prstGeom>
          <a:solidFill>
            <a:srgbClr val="E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2996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1" i="0">
                <a:solidFill>
                  <a:srgbClr val="1E8A6E"/>
                </a:solidFill>
                <a:latin typeface="Calibri"/>
              </a:rPr>
              <a:t>TL;DR  </a:t>
            </a:r>
            <a:r>
              <a:rPr sz="2300" b="1" i="0">
                <a:solidFill>
                  <a:srgbClr val="222A3A"/>
                </a:solidFill>
                <a:latin typeface="Calibri"/>
              </a:rPr>
              <a:t>PlaidQ</a:t>
            </a:r>
            <a:r>
              <a:rPr sz="2300" b="0" i="0">
                <a:solidFill>
                  <a:srgbClr val="222A3A"/>
                </a:solidFill>
                <a:latin typeface="Calibri"/>
              </a:rPr>
              <a:t> is a 0.7B continuous diffusion language model for code, built by turning a pretrained autoregressive model into a bidirectional denoiser over token embeddings. Its long denoising trajectory can be </a:t>
            </a:r>
            <a:r>
              <a:rPr sz="2300" b="1" i="0">
                <a:solidFill>
                  <a:srgbClr val="222A3A"/>
                </a:solidFill>
                <a:latin typeface="Calibri"/>
              </a:rPr>
              <a:t>distilled into 16, 8, or 4 steps</a:t>
            </a:r>
            <a:r>
              <a:rPr sz="2300" b="0" i="0">
                <a:solidFill>
                  <a:srgbClr val="222A3A"/>
                </a:solidFill>
                <a:latin typeface="Calibri"/>
              </a:rPr>
              <a:t> (distribution matching) or </a:t>
            </a:r>
            <a:r>
              <a:rPr sz="2300" b="1" i="0">
                <a:solidFill>
                  <a:srgbClr val="222A3A"/>
                </a:solidFill>
                <a:latin typeface="Calibri"/>
              </a:rPr>
              <a:t>a single step</a:t>
            </a:r>
            <a:r>
              <a:rPr sz="2300" b="0" i="0">
                <a:solidFill>
                  <a:srgbClr val="222A3A"/>
                </a:solidFill>
                <a:latin typeface="Calibri"/>
              </a:rPr>
              <a:t> (paired trajectories). A 16-step student beats the 512-step teacher on pass@10; one step already yields executable programs.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57800"/>
            <a:ext cx="7040880" cy="76809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22959" y="5532120"/>
            <a:ext cx="566928" cy="566928"/>
          </a:xfrm>
          <a:prstGeom prst="ellipse">
            <a:avLst/>
          </a:prstGeom>
          <a:solidFill>
            <a:srgbClr val="1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5477256"/>
            <a:ext cx="572414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 i="0">
                <a:solidFill>
                  <a:srgbClr val="1B2340"/>
                </a:solidFill>
                <a:latin typeface="Calibri"/>
              </a:rPr>
              <a:t>Why is few-step code
generation hard?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6583680"/>
            <a:ext cx="6492240" cy="585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2608" indent="-292608">
              <a:lnSpc>
                <a:spcPct val="108000"/>
              </a:lnSpc>
              <a:spcAft>
                <a:spcPts val="1200"/>
              </a:spcAft>
              <a:buClr>
                <a:srgbClr val="1E8A6E"/>
              </a:buClr>
              <a:buFont typeface="Arial"/>
              <a:buChar char="•"/>
            </a:pPr>
            <a:r>
              <a:rPr sz="2100" b="1" i="0">
                <a:solidFill>
                  <a:srgbClr val="222A3A"/>
                </a:solidFill>
                <a:latin typeface="Calibri"/>
              </a:rPr>
              <a:t>Autoregressive</a:t>
            </a:r>
            <a:r>
              <a:rPr sz="2100" b="0" i="0">
                <a:solidFill>
                  <a:srgbClr val="222A3A"/>
                </a:solidFill>
                <a:latin typeface="Calibri"/>
              </a:rPr>
              <a:t> decoding emits one token per step; the dependency chain grows with output length.</a:t>
            </a:r>
          </a:p>
          <a:p>
            <a:pPr algn="l" marL="292608" indent="-292608">
              <a:lnSpc>
                <a:spcPct val="108000"/>
              </a:lnSpc>
              <a:spcAft>
                <a:spcPts val="1200"/>
              </a:spcAft>
              <a:buClr>
                <a:srgbClr val="1E8A6E"/>
              </a:buClr>
              <a:buFont typeface="Arial"/>
              <a:buChar char="•"/>
            </a:pPr>
            <a:r>
              <a:rPr sz="2100" b="1" i="0">
                <a:solidFill>
                  <a:srgbClr val="222A3A"/>
                </a:solidFill>
                <a:latin typeface="Calibri"/>
              </a:rPr>
              <a:t>Discrete diffusion</a:t>
            </a:r>
            <a:r>
              <a:rPr sz="2100" b="0" i="0">
                <a:solidFill>
                  <a:srgbClr val="222A3A"/>
                </a:solidFill>
                <a:latin typeface="Calibri"/>
              </a:rPr>
              <a:t> updates many positions per step, but samples them independently from the same context. Coordination comes from many rounds of unmasking; cutting steps removes exactly that.</a:t>
            </a:r>
          </a:p>
          <a:p>
            <a:pPr algn="l" marL="292608" indent="-292608">
              <a:lnSpc>
                <a:spcPct val="108000"/>
              </a:lnSpc>
              <a:spcAft>
                <a:spcPts val="1200"/>
              </a:spcAft>
              <a:buClr>
                <a:srgbClr val="1E8A6E"/>
              </a:buClr>
              <a:buFont typeface="Arial"/>
              <a:buChar char="•"/>
            </a:pPr>
            <a:r>
              <a:rPr sz="2100" b="1" i="0">
                <a:solidFill>
                  <a:srgbClr val="222A3A"/>
                </a:solidFill>
                <a:latin typeface="Calibri"/>
              </a:rPr>
              <a:t>Continuous text diffusion</a:t>
            </a:r>
            <a:r>
              <a:rPr sz="2100" b="0" i="0">
                <a:solidFill>
                  <a:srgbClr val="222A3A"/>
                </a:solidFill>
                <a:latin typeface="Calibri"/>
              </a:rPr>
              <a:t> has been compressed to few or one steps, but mostly on unconditional text judged by generative perplexity, a proxy that can reward degenerate output.</a:t>
            </a:r>
          </a:p>
          <a:p>
            <a:pPr algn="l" marL="292608" indent="-292608">
              <a:lnSpc>
                <a:spcPct val="108000"/>
              </a:lnSpc>
              <a:spcAft>
                <a:spcPts val="1200"/>
              </a:spcAft>
              <a:buClr>
                <a:srgbClr val="1E8A6E"/>
              </a:buClr>
              <a:buFont typeface="Arial"/>
              <a:buChar char="•"/>
            </a:pPr>
            <a:r>
              <a:rPr sz="2100" b="1" i="0">
                <a:solidFill>
                  <a:srgbClr val="2A6EBB"/>
                </a:solidFill>
                <a:latin typeface="Calibri"/>
              </a:rPr>
              <a:t>Code is the honest test:</a:t>
            </a:r>
            <a:r>
              <a:rPr sz="2100" b="0" i="0">
                <a:solidFill>
                  <a:srgbClr val="222A3A"/>
                </a:solidFill>
                <a:latin typeface="Calibri"/>
              </a:rPr>
              <a:t> a program either passes its unit tests or it does not (pass@k).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11521440"/>
            <a:ext cx="6492240" cy="109728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1152144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 i="0">
                <a:solidFill>
                  <a:srgbClr val="2A6EBB"/>
                </a:solidFill>
                <a:latin typeface="Calibri"/>
              </a:rPr>
              <a:t>Q. </a:t>
            </a:r>
            <a:r>
              <a:rPr sz="2100" b="0" i="1">
                <a:solidFill>
                  <a:srgbClr val="1B2340"/>
                </a:solidFill>
                <a:latin typeface="Calibri"/>
              </a:rPr>
              <a:t>Can continuous diffusion write code in a few steps, or even one?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5257800"/>
            <a:ext cx="13487400" cy="7680960"/>
          </a:xfrm>
          <a:prstGeom prst="roundRect">
            <a:avLst>
              <a:gd name="adj" fmla="val 2142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183880" y="5532120"/>
            <a:ext cx="566928" cy="566928"/>
          </a:xfrm>
          <a:prstGeom prst="ellipse">
            <a:avLst/>
          </a:prstGeom>
          <a:solidFill>
            <a:srgbClr val="1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1976" y="5477256"/>
            <a:ext cx="1217066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 i="0">
                <a:solidFill>
                  <a:srgbClr val="1B2340"/>
                </a:solidFill>
                <a:latin typeface="Calibri"/>
              </a:rPr>
              <a:t>PlaidQ: a pretrained AR model repurposed as a continuous denoiser</a:t>
            </a:r>
          </a:p>
        </p:txBody>
      </p:sp>
      <p:pic>
        <p:nvPicPr>
          <p:cNvPr id="19" name="Picture 18" descr="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904" y="6263640"/>
            <a:ext cx="9348711" cy="4069080"/>
          </a:xfrm>
          <a:prstGeom prst="rect">
            <a:avLst/>
          </a:prstGeom>
        </p:spPr>
      </p:pic>
      <p:pic>
        <p:nvPicPr>
          <p:cNvPr id="20" name="Picture 19" descr="pq_for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1340" y="10442448"/>
            <a:ext cx="7863840" cy="4578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83880" y="11083136"/>
            <a:ext cx="4130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E8A6E"/>
                </a:solidFill>
                <a:latin typeface="Calibri"/>
              </a:rPr>
              <a:t>Build from Qwen3-0.6B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1485472"/>
            <a:ext cx="4130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50" b="0" i="0">
                <a:solidFill>
                  <a:srgbClr val="222A3A"/>
                </a:solidFill>
                <a:latin typeface="Calibri"/>
              </a:rPr>
              <a:t>Reuse Qwen3-0.6B's trunk and vocabulary head; causal → bidirectional attention; adaLN noise conditioning; the head is shifted one position to keep its pretrained role. 0.7B parameters.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88240" y="11083136"/>
            <a:ext cx="4130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2A6EBB"/>
                </a:solidFill>
                <a:latin typeface="Calibri"/>
              </a:rPr>
              <a:t>Denoise in embedding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88240" y="11485472"/>
            <a:ext cx="4130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50" b="0" i="0">
                <a:solidFill>
                  <a:srgbClr val="222A3A"/>
                </a:solidFill>
                <a:latin typeface="Calibri"/>
              </a:rPr>
              <a:t>Only completion embeddings are noised; the prompt stays clean. Each step predicts vocabulary probabilities and reconstructs the clean embedding as their expectation; decode once at t = 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92600" y="11083136"/>
            <a:ext cx="4130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B2340"/>
                </a:solidFill>
                <a:latin typeface="Calibri"/>
              </a:rPr>
              <a:t>Train at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92600" y="11485472"/>
            <a:ext cx="4130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50" b="0" i="0">
                <a:solidFill>
                  <a:srgbClr val="222A3A"/>
                </a:solidFill>
                <a:latin typeface="Calibri"/>
              </a:rPr>
              <a:t>380k steps, 0.40T positions, 50% code. SWVR streams softmax(hWᵀ)E over vocabulary chunks (exact, 29.6% less activation memory). Hybrid Muon–AdamW optimizer.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3258800"/>
            <a:ext cx="10264140" cy="406908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22959" y="13533120"/>
            <a:ext cx="566928" cy="566928"/>
          </a:xfrm>
          <a:prstGeom prst="ellipse">
            <a:avLst/>
          </a:prstGeom>
          <a:solidFill>
            <a:srgbClr val="1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1056" y="13478256"/>
            <a:ext cx="894740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 i="0">
                <a:solidFill>
                  <a:srgbClr val="1B2340"/>
                </a:solidFill>
                <a:latin typeface="Calibri"/>
              </a:rPr>
              <a:t>Few steps: distribution matching (DMD)</a:t>
            </a:r>
          </a:p>
        </p:txBody>
      </p:sp>
      <p:pic>
        <p:nvPicPr>
          <p:cNvPr id="30" name="Picture 29" descr="dm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59" y="14218920"/>
            <a:ext cx="3795952" cy="28803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20640" y="14191488"/>
            <a:ext cx="541781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 i="0">
                <a:solidFill>
                  <a:srgbClr val="222A3A"/>
                </a:solidFill>
                <a:latin typeface="Calibri"/>
              </a:rPr>
              <a:t>Student = same architecture, K ∈ {4, 8, 16} steps.</a:t>
            </a:r>
            <a:r>
              <a:rPr sz="1700" b="0" i="0">
                <a:solidFill>
                  <a:srgbClr val="222A3A"/>
                </a:solidFill>
                <a:latin typeface="Calibri"/>
              </a:rPr>
              <a:t> It runs its full sampler as at inference; gradients flow through one random step. The prediction G is re-noised and scored by the frozen teacher T and a critic F that tracks the student. The teacher-minus-critic direction pulls the student toward the teacher distribution. No reference completions are needed.</a:t>
            </a:r>
          </a:p>
        </p:txBody>
      </p:sp>
      <p:pic>
        <p:nvPicPr>
          <p:cNvPr id="32" name="Picture 31" descr="pq_dm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9229" y="16201577"/>
            <a:ext cx="5120640" cy="85198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132819" y="13258800"/>
            <a:ext cx="10264140" cy="406908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1407140" y="13533120"/>
            <a:ext cx="566928" cy="566928"/>
          </a:xfrm>
          <a:prstGeom prst="ellipse">
            <a:avLst/>
          </a:prstGeom>
          <a:solidFill>
            <a:srgbClr val="1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75236" y="13478256"/>
            <a:ext cx="894740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 i="0">
                <a:solidFill>
                  <a:srgbClr val="1B2340"/>
                </a:solidFill>
                <a:latin typeface="Calibri"/>
              </a:rPr>
              <a:t>One step: paired-trajectory distillation</a:t>
            </a:r>
          </a:p>
        </p:txBody>
      </p:sp>
      <p:pic>
        <p:nvPicPr>
          <p:cNvPr id="36" name="Picture 35" descr="pai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7140" y="14218920"/>
            <a:ext cx="4023360" cy="274034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5704820" y="14191488"/>
            <a:ext cx="541781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 i="0">
                <a:solidFill>
                  <a:srgbClr val="222A3A"/>
                </a:solidFill>
                <a:latin typeface="Calibri"/>
              </a:rPr>
              <a:t>DMD alone is too weak at K = 1:</a:t>
            </a:r>
            <a:r>
              <a:rPr sz="1700" b="0" i="0">
                <a:solidFill>
                  <a:srgbClr val="222A3A"/>
                </a:solidFill>
                <a:latin typeface="Calibri"/>
              </a:rPr>
              <a:t> noise must map straight to a program with no later step to correct it. Fix: run teacher and student from the same prompt c and the same noise z. The teacher's multi-step output x*(z) becomes a pointwise target for the one-step student (completion-masked cross-entropy). A step-dependent score temperature keeps the large-step reverse map stable.</a:t>
            </a:r>
          </a:p>
        </p:txBody>
      </p:sp>
      <p:pic>
        <p:nvPicPr>
          <p:cNvPr id="38" name="Picture 37" descr="pq_pair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44850" y="16230906"/>
            <a:ext cx="4937760" cy="822653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548640" y="17647920"/>
            <a:ext cx="566928" cy="566928"/>
          </a:xfrm>
          <a:prstGeom prst="ellipse">
            <a:avLst/>
          </a:prstGeom>
          <a:solidFill>
            <a:srgbClr val="1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6736" y="17593056"/>
            <a:ext cx="2008022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B2340"/>
                </a:solidFill>
                <a:latin typeface="Calibri"/>
              </a:rPr>
              <a:t>Results: distillation shifts the quality–compute frontier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18425160"/>
            <a:ext cx="13167360" cy="5989320"/>
          </a:xfrm>
          <a:prstGeom prst="roundRect">
            <a:avLst>
              <a:gd name="adj" fmla="val 2748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2960" y="18653760"/>
            <a:ext cx="1261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 i="0">
                <a:solidFill>
                  <a:srgbClr val="1B2340"/>
                </a:solidFill>
                <a:latin typeface="Calibri"/>
              </a:rPr>
              <a:t>pass@10 vs. denoising steps  ·  each blue point is a separately trained PlaidQ-DK student</a:t>
            </a:r>
          </a:p>
        </p:txBody>
      </p:sp>
      <p:pic>
        <p:nvPicPr>
          <p:cNvPr id="43" name="Picture 42" descr="lowstep_cr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9916" y="19202400"/>
            <a:ext cx="11784807" cy="4983479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4036040" y="18425160"/>
            <a:ext cx="7360919" cy="5989320"/>
          </a:xfrm>
          <a:prstGeom prst="roundRect">
            <a:avLst>
              <a:gd name="adj" fmla="val 2748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4310360" y="18653760"/>
            <a:ext cx="6812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 i="0">
                <a:solidFill>
                  <a:srgbClr val="1B2340"/>
                </a:solidFill>
                <a:latin typeface="Calibri"/>
              </a:rPr>
              <a:t>One denoising step → executable code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310360" y="19065240"/>
            <a:ext cx="6812279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2A6EBB"/>
                </a:solidFill>
                <a:latin typeface="Calibri"/>
              </a:rPr>
              <a:t>7.07 pass@1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310360" y="19997928"/>
            <a:ext cx="6812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5B6474"/>
                </a:solidFill>
                <a:latin typeface="Calibri"/>
              </a:rPr>
              <a:t>HumanEval with a single denoising step (PlaidQ-D1), up from </a:t>
            </a:r>
            <a:r>
              <a:rPr sz="1700" b="1" i="0">
                <a:solidFill>
                  <a:srgbClr val="5B6474"/>
                </a:solidFill>
                <a:latin typeface="Calibri"/>
              </a:rPr>
              <a:t>0.09</a:t>
            </a:r>
            <a:r>
              <a:rPr sz="1700" b="0" i="0">
                <a:solidFill>
                  <a:srgbClr val="5B6474"/>
                </a:solidFill>
                <a:latin typeface="Calibri"/>
              </a:rPr>
              <a:t> for the undistilled model; 8.53 pass@10.</a:t>
            </a:r>
          </a:p>
        </p:txBody>
      </p:sp>
      <p:pic>
        <p:nvPicPr>
          <p:cNvPr id="48" name="Picture 47" descr="teaser_t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10360" y="21122640"/>
            <a:ext cx="6812279" cy="213355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4310360" y="23365921"/>
            <a:ext cx="6812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 i="1">
                <a:solidFill>
                  <a:srgbClr val="5B6474"/>
                </a:solidFill>
                <a:latin typeface="Calibri"/>
              </a:rPr>
              <a:t>Selected PlaidQ-D1 outputs; grey = prompt, blue = generated completion; all pass their tests.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24734520"/>
            <a:ext cx="13167360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822960" y="25008840"/>
            <a:ext cx="566928" cy="566928"/>
          </a:xfrm>
          <a:prstGeom prst="ellipse">
            <a:avLst/>
          </a:prstGeom>
          <a:solidFill>
            <a:srgbClr val="1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91056" y="24953976"/>
            <a:ext cx="1185062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 i="0">
                <a:solidFill>
                  <a:srgbClr val="1B2340"/>
                </a:solidFill>
                <a:latin typeface="Calibri"/>
              </a:rPr>
              <a:t>Competitive with same-scale discrete diffusion LMs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822960" y="25694640"/>
          <a:ext cx="12618720" cy="22402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65960"/>
                <a:gridCol w="868680"/>
                <a:gridCol w="1097280"/>
                <a:gridCol w="1188720"/>
                <a:gridCol w="1143000"/>
                <a:gridCol w="1234440"/>
                <a:gridCol w="1234440"/>
                <a:gridCol w="1325880"/>
                <a:gridCol w="1280160"/>
                <a:gridCol w="128016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HE p@1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HE p@10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HE+ p@1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HE+ p@10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MBPP p@1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MBPP p@10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MBPP+ p@1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MBPP+ p@10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Mask DFM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1.3B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17.6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7.9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13.4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Edit Flow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1.3B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12.8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24.3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20.7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36.4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Open-dCoder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0.63B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20.8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38.4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17.6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35.2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16.7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38.4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23.9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53.6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oDLM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0.6B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17.87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35.98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31.1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15.7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37.0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22.99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49.47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PlaidQ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0.7B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19.02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25.72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18.05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24.03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12.19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21.44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22.18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34.33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PlaidQ + CFG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0.7B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22.04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39.87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19.70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36.74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15.53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32.48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24.58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44.79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822960" y="28072080"/>
            <a:ext cx="1261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5B6474"/>
                </a:solidFill>
                <a:latin typeface="Calibri"/>
              </a:rPr>
              <a:t>PlaidQ: 128 steps; +CFG: stronger guided setting (zero-shot classifier-free guidance, ≈ 2× NFE). Bold = best among ≤ 1.3B models. CFG lifts pass@10 at every matched budget: +12.3 / +7.7 points at 16 steps and +11.2 / +10.2 at 512 steps (HumanEval / MBPP+).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036040" y="24734520"/>
            <a:ext cx="7360919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14310360" y="25008840"/>
            <a:ext cx="566928" cy="566928"/>
          </a:xfrm>
          <a:prstGeom prst="ellipse">
            <a:avLst/>
          </a:prstGeom>
          <a:solidFill>
            <a:srgbClr val="1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78455" y="24953976"/>
            <a:ext cx="6044183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 i="0">
                <a:solidFill>
                  <a:srgbClr val="1B2340"/>
                </a:solidFill>
                <a:latin typeface="Calibri"/>
              </a:rPr>
              <a:t>Zero-shot code infilling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14310360" y="25694640"/>
          <a:ext cx="6720840" cy="22402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63240"/>
                <a:gridCol w="1737360"/>
                <a:gridCol w="192024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HE-Infill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SantaCoder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1B2340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1B234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LLaDA-8B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48.3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35.1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Dream-7B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39.4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40.7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DiffuCoder-7B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54.8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38.8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Dream-Coder-7B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55.3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40.0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Open-dCoder-0.63B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32.5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29.6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PlaidQ-0.7B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222A3A"/>
                          </a:solidFill>
                          <a:latin typeface="Calibri"/>
                        </a:rPr>
                        <a:t>37.91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A3A"/>
                          </a:solidFill>
                          <a:latin typeface="Calibri"/>
                        </a:rPr>
                        <a:t>22.86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E4EEFA"/>
                    </a:solidFill>
                  </a:tcPr>
                </a:tc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14310360" y="28072080"/>
            <a:ext cx="68122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5B6474"/>
                </a:solidFill>
                <a:latin typeface="Calibri"/>
              </a:rPr>
              <a:t>Bold = best among sub-1B models. Trained only on prefix completion; clean context on both sides of a noisy span is never seen in training, yet the bidirectional denoiser transfers (no-oracle protocol).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29215080"/>
            <a:ext cx="20848320" cy="178308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822960" y="29489400"/>
            <a:ext cx="566928" cy="566928"/>
          </a:xfrm>
          <a:prstGeom prst="ellipse">
            <a:avLst/>
          </a:prstGeom>
          <a:solidFill>
            <a:srgbClr val="1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91056" y="29434536"/>
            <a:ext cx="654710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1B2340"/>
                </a:solidFill>
                <a:latin typeface="Calibri"/>
              </a:rPr>
              <a:t>Recipe: each part independently effective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29443680"/>
            <a:ext cx="4084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2A6EBB"/>
                </a:solidFill>
                <a:latin typeface="Calibri"/>
              </a:rPr>
              <a:t>3.65 → 3.59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30111192"/>
            <a:ext cx="4084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 i="0">
                <a:solidFill>
                  <a:srgbClr val="5B6474"/>
                </a:solidFill>
                <a:latin typeface="Calibri"/>
              </a:rPr>
              <a:t>validation NLL from AR initialization + head alignment (scratch 3.65, AR init 3.62; the shift alone without pretraining does not help: 3.67)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679680" y="29443680"/>
            <a:ext cx="4084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2A6EBB"/>
                </a:solidFill>
                <a:latin typeface="Calibri"/>
              </a:rPr>
              <a:t>−29.6%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679680" y="30111192"/>
            <a:ext cx="4084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 i="0">
                <a:solidFill>
                  <a:srgbClr val="5B6474"/>
                </a:solidFill>
                <a:latin typeface="Calibri"/>
              </a:rPr>
              <a:t>peak activation memory with SWVR at 2048 tokens (40.2 → 28.3 GB), while matching the dense loss and gradients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038320" y="29443680"/>
            <a:ext cx="4084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2A6EBB"/>
                </a:solidFill>
                <a:latin typeface="Calibri"/>
              </a:rPr>
              <a:t>Muon + AdamW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038320" y="30111192"/>
            <a:ext cx="4084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 i="0">
                <a:solidFill>
                  <a:srgbClr val="5B6474"/>
                </a:solidFill>
                <a:latin typeface="Calibri"/>
              </a:rPr>
              <a:t>hybrid assignment (Muon on hidden 2-D weights, AdamW elsewhere) gives consistently lower validation loss than AdamW alone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31318200"/>
            <a:ext cx="21945600" cy="1600199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40080" y="31427928"/>
            <a:ext cx="2377440" cy="13807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17520" y="31455360"/>
            <a:ext cx="5852159" cy="1325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Continuous diffusion is a viable interface for code.  </a:t>
            </a:r>
            <a:r>
              <a:rPr sz="1700" b="0" i="0">
                <a:solidFill>
                  <a:srgbClr val="CADCFC"/>
                </a:solidFill>
                <a:latin typeface="Calibri"/>
              </a:rPr>
              <a:t>An AR model becomes a bidirectional embedding-space denoiser that is competitive with same-scale discrete DLMs and transfers zero-shot to infilling.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35440" y="31455360"/>
            <a:ext cx="5852159" cy="1325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 16-step student beats the teacher.  </a:t>
            </a:r>
            <a:r>
              <a:rPr sz="1700" b="0" i="0">
                <a:solidFill>
                  <a:srgbClr val="CADCFC"/>
                </a:solidFill>
                <a:latin typeface="Calibri"/>
              </a:rPr>
              <a:t>PlaidQ-D16 reaches 31.78 / 40.49 pass@10 (HumanEval / MBPP+), above the 128–512-step teacher (28.57 / 35.21) with ≥ 8× fewer steps.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453359" y="31455360"/>
            <a:ext cx="5852159" cy="1325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One step can already produce correct programs.  </a:t>
            </a:r>
            <a:r>
              <a:rPr sz="1700" b="0" i="0">
                <a:solidFill>
                  <a:srgbClr val="CADCFC"/>
                </a:solidFill>
                <a:latin typeface="Calibri"/>
              </a:rPr>
              <a:t>Paired-trajectory distillation lifts one-step HumanEval pass@1 from 0.09 to 7.07. Limitation: 0.7B scale; one-step quality still trails many-step sampling.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